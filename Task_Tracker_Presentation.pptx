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111F"/>
            </a:gs>
            <a:gs pos="100000">
              <a:srgbClr val="1E2E4E"/>
            </a:gs>
          </a:gsLst>
          <a:lin scaled="0" ang="186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4663440"/>
            <a:ext cx="3840480" cy="3840480"/>
          </a:xfrm>
          <a:prstGeom prst="ellipse">
            <a:avLst/>
          </a:prstGeom>
          <a:solidFill>
            <a:srgbClr val="2563A6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0" y="3931920"/>
            <a:ext cx="2377440" cy="2377440"/>
          </a:xfrm>
          <a:prstGeom prst="ellipse">
            <a:avLst/>
          </a:prstGeom>
          <a:solidFill>
            <a:srgbClr val="C0392B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11680" y="5486400"/>
            <a:ext cx="2926080" cy="2926080"/>
          </a:xfrm>
          <a:prstGeom prst="ellipse">
            <a:avLst/>
          </a:prstGeom>
          <a:solidFill>
            <a:srgbClr val="2563A6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its_logo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384048"/>
            <a:ext cx="841248" cy="8412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384048"/>
            <a:ext cx="777240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Cambria"/>
              </a:rPr>
              <a:t>Task Tracker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70432"/>
            <a:ext cx="86868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CADCFC"/>
                </a:solidFill>
                <a:latin typeface="Calibri"/>
              </a:rPr>
              <a:t>A task management web app for BITS Pilani, Hyderabad Campus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27632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8FA6C4"/>
                </a:solidFill>
                <a:latin typeface="Calibri"/>
              </a:rPr>
              <a:t>Created by Devang Navneeth Naik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59436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Features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9788" y="2802636"/>
            <a:ext cx="6035040" cy="530352"/>
          </a:xfrm>
          <a:prstGeom prst="roundRect">
            <a:avLst>
              <a:gd name="adj" fmla="val 22000"/>
            </a:avLst>
          </a:prstGeom>
          <a:solidFill>
            <a:srgbClr val="000000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2761488"/>
            <a:ext cx="6035040" cy="530352"/>
          </a:xfrm>
          <a:prstGeom prst="roundRect">
            <a:avLst>
              <a:gd name="adj" fmla="val 22000"/>
            </a:avLst>
          </a:prstGeom>
          <a:solidFill>
            <a:srgbClr val="1D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13232" y="2862072"/>
            <a:ext cx="329184" cy="329184"/>
          </a:xfrm>
          <a:prstGeom prst="ellipse">
            <a:avLst/>
          </a:prstGeom>
          <a:solidFill>
            <a:srgbClr val="256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761488"/>
            <a:ext cx="5394960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FFFFFF"/>
                </a:solidFill>
                <a:latin typeface="Calibri"/>
              </a:rPr>
              <a:t>Inline create, edit, and delete — no page reloads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9788" y="3442715"/>
            <a:ext cx="6035040" cy="530352"/>
          </a:xfrm>
          <a:prstGeom prst="roundRect">
            <a:avLst>
              <a:gd name="adj" fmla="val 22000"/>
            </a:avLst>
          </a:prstGeom>
          <a:solidFill>
            <a:srgbClr val="000000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3401568"/>
            <a:ext cx="6035040" cy="530352"/>
          </a:xfrm>
          <a:prstGeom prst="roundRect">
            <a:avLst>
              <a:gd name="adj" fmla="val 22000"/>
            </a:avLst>
          </a:prstGeom>
          <a:solidFill>
            <a:srgbClr val="1D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3232" y="3502151"/>
            <a:ext cx="329184" cy="329184"/>
          </a:xfrm>
          <a:prstGeom prst="ellipse">
            <a:avLst/>
          </a:prstGeom>
          <a:solidFill>
            <a:srgbClr val="256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401568"/>
            <a:ext cx="5394960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FFFFFF"/>
                </a:solidFill>
                <a:latin typeface="Calibri"/>
              </a:rPr>
              <a:t>Native date picker for start and end dates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9788" y="4082796"/>
            <a:ext cx="6035040" cy="530352"/>
          </a:xfrm>
          <a:prstGeom prst="roundRect">
            <a:avLst>
              <a:gd name="adj" fmla="val 22000"/>
            </a:avLst>
          </a:prstGeom>
          <a:solidFill>
            <a:srgbClr val="000000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8640" y="4041648"/>
            <a:ext cx="6035040" cy="530352"/>
          </a:xfrm>
          <a:prstGeom prst="roundRect">
            <a:avLst>
              <a:gd name="adj" fmla="val 22000"/>
            </a:avLst>
          </a:prstGeom>
          <a:solidFill>
            <a:srgbClr val="1D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13232" y="4142232"/>
            <a:ext cx="329184" cy="329184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041648"/>
            <a:ext cx="5394960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FFFFFF"/>
                </a:solidFill>
                <a:latin typeface="Calibri"/>
              </a:rPr>
              <a:t>Status &amp; Priority dropdowns, auto-sorted High → Low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9788" y="4722876"/>
            <a:ext cx="6035040" cy="530352"/>
          </a:xfrm>
          <a:prstGeom prst="roundRect">
            <a:avLst>
              <a:gd name="adj" fmla="val 22000"/>
            </a:avLst>
          </a:prstGeom>
          <a:solidFill>
            <a:srgbClr val="000000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48640" y="4681728"/>
            <a:ext cx="6035040" cy="530352"/>
          </a:xfrm>
          <a:prstGeom prst="roundRect">
            <a:avLst>
              <a:gd name="adj" fmla="val 22000"/>
            </a:avLst>
          </a:prstGeom>
          <a:solidFill>
            <a:srgbClr val="1D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13232" y="4782312"/>
            <a:ext cx="329184" cy="329184"/>
          </a:xfrm>
          <a:prstGeom prst="ellipse">
            <a:avLst/>
          </a:prstGeom>
          <a:solidFill>
            <a:srgbClr val="256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4681728"/>
            <a:ext cx="5394960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FFFFFF"/>
                </a:solidFill>
                <a:latin typeface="Calibri"/>
              </a:rPr>
              <a:t>Completion shown as a live progress ring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9788" y="5362956"/>
            <a:ext cx="6035040" cy="530352"/>
          </a:xfrm>
          <a:prstGeom prst="roundRect">
            <a:avLst>
              <a:gd name="adj" fmla="val 22000"/>
            </a:avLst>
          </a:prstGeom>
          <a:solidFill>
            <a:srgbClr val="000000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48640" y="5321808"/>
            <a:ext cx="6035040" cy="530352"/>
          </a:xfrm>
          <a:prstGeom prst="roundRect">
            <a:avLst>
              <a:gd name="adj" fmla="val 22000"/>
            </a:avLst>
          </a:prstGeom>
          <a:solidFill>
            <a:srgbClr val="1D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13232" y="5422392"/>
            <a:ext cx="329184" cy="329184"/>
          </a:xfrm>
          <a:prstGeom prst="ellipse">
            <a:avLst/>
          </a:prstGeom>
          <a:solidFill>
            <a:srgbClr val="256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5321808"/>
            <a:ext cx="5394960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FFFFFF"/>
                </a:solidFill>
                <a:latin typeface="Calibri"/>
              </a:rPr>
              <a:t>Live search plus Status / Priority filters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9788" y="6003036"/>
            <a:ext cx="6035040" cy="530352"/>
          </a:xfrm>
          <a:prstGeom prst="roundRect">
            <a:avLst>
              <a:gd name="adj" fmla="val 22000"/>
            </a:avLst>
          </a:prstGeom>
          <a:solidFill>
            <a:srgbClr val="000000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48640" y="5961888"/>
            <a:ext cx="6035040" cy="530352"/>
          </a:xfrm>
          <a:prstGeom prst="roundRect">
            <a:avLst>
              <a:gd name="adj" fmla="val 22000"/>
            </a:avLst>
          </a:prstGeom>
          <a:solidFill>
            <a:srgbClr val="1D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13232" y="6062472"/>
            <a:ext cx="329184" cy="329184"/>
          </a:xfrm>
          <a:prstGeom prst="ellipse">
            <a:avLst/>
          </a:prstGeom>
          <a:solidFill>
            <a:srgbClr val="256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961888"/>
            <a:ext cx="5394960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FFFFFF"/>
                </a:solidFill>
                <a:latin typeface="Calibri"/>
              </a:rPr>
              <a:t>Light / dark theme, follows your 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2148840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Technology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562088" y="2825496"/>
            <a:ext cx="3931920" cy="1042415"/>
          </a:xfrm>
          <a:prstGeom prst="roundRect">
            <a:avLst>
              <a:gd name="adj" fmla="val 10000"/>
            </a:avLst>
          </a:prstGeom>
          <a:solidFill>
            <a:srgbClr val="00000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498079" y="2761488"/>
            <a:ext cx="3931920" cy="1042415"/>
          </a:xfrm>
          <a:prstGeom prst="roundRect">
            <a:avLst>
              <a:gd name="adj" fmla="val 10000"/>
            </a:avLst>
          </a:prstGeom>
          <a:solidFill>
            <a:srgbClr val="1D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735823" y="2999232"/>
            <a:ext cx="384048" cy="384048"/>
          </a:xfrm>
          <a:prstGeom prst="ellipse">
            <a:avLst/>
          </a:prstGeom>
          <a:solidFill>
            <a:srgbClr val="256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10727" y="2916936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10727" y="324612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8FA6C4"/>
                </a:solidFill>
                <a:latin typeface="Calibri"/>
              </a:rPr>
              <a:t>Python, Flask, SQLite — raw sqlite3, no ORM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62088" y="4069080"/>
            <a:ext cx="3931920" cy="1042415"/>
          </a:xfrm>
          <a:prstGeom prst="roundRect">
            <a:avLst>
              <a:gd name="adj" fmla="val 10000"/>
            </a:avLst>
          </a:prstGeom>
          <a:solidFill>
            <a:srgbClr val="00000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498079" y="4005072"/>
            <a:ext cx="3931920" cy="1042415"/>
          </a:xfrm>
          <a:prstGeom prst="roundRect">
            <a:avLst>
              <a:gd name="adj" fmla="val 10000"/>
            </a:avLst>
          </a:prstGeom>
          <a:solidFill>
            <a:srgbClr val="1D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735823" y="4242816"/>
            <a:ext cx="384048" cy="384048"/>
          </a:xfrm>
          <a:prstGeom prst="ellipse">
            <a:avLst/>
          </a:prstGeom>
          <a:solidFill>
            <a:srgbClr val="256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F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10727" y="4160520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10727" y="4489704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8FA6C4"/>
                </a:solidFill>
                <a:latin typeface="Calibri"/>
              </a:rPr>
              <a:t>HTML, CSS, JavaScript — no framework, no build step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562088" y="5312664"/>
            <a:ext cx="3931920" cy="1042415"/>
          </a:xfrm>
          <a:prstGeom prst="roundRect">
            <a:avLst>
              <a:gd name="adj" fmla="val 10000"/>
            </a:avLst>
          </a:prstGeom>
          <a:solidFill>
            <a:srgbClr val="00000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7498079" y="5248656"/>
            <a:ext cx="3931920" cy="1042415"/>
          </a:xfrm>
          <a:prstGeom prst="roundRect">
            <a:avLst>
              <a:gd name="adj" fmla="val 10000"/>
            </a:avLst>
          </a:prstGeom>
          <a:solidFill>
            <a:srgbClr val="1D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735823" y="5486400"/>
            <a:ext cx="384048" cy="384048"/>
          </a:xfrm>
          <a:prstGeom prst="ellipse">
            <a:avLst/>
          </a:prstGeom>
          <a:solidFill>
            <a:srgbClr val="256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10727" y="5404104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Storage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10727" y="5733288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8FA6C4"/>
                </a:solidFill>
                <a:latin typeface="Calibri"/>
              </a:rPr>
              <a:t>tasks.db — SQLite file, auto-created on first run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E9EEF4"/>
            </a:gs>
          </a:gsLst>
          <a:lin scaled="0" ang="186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377440" y="-2377440"/>
            <a:ext cx="3291840" cy="3291840"/>
          </a:xfrm>
          <a:prstGeom prst="ellipse">
            <a:avLst/>
          </a:prstGeom>
          <a:solidFill>
            <a:srgbClr val="2563A6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0" y="5486400"/>
            <a:ext cx="2926080" cy="2926080"/>
          </a:xfrm>
          <a:prstGeom prst="ellipse">
            <a:avLst/>
          </a:prstGeom>
          <a:solidFill>
            <a:srgbClr val="2563A6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its_logo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384048"/>
            <a:ext cx="841248" cy="8412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172033"/>
                </a:solidFill>
                <a:latin typeface="Cambria"/>
              </a:rPr>
              <a:t>Technical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B6B82"/>
                </a:solidFill>
                <a:latin typeface="Calibri"/>
              </a:rPr>
              <a:t>Three-tier flow — browser, Flask server, and SQLite database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3" y="2295144"/>
            <a:ext cx="2743200" cy="2468880"/>
          </a:xfrm>
          <a:prstGeom prst="roundRect">
            <a:avLst>
              <a:gd name="adj" fmla="val 6000"/>
            </a:avLst>
          </a:prstGeom>
          <a:solidFill>
            <a:srgbClr val="000000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2240280"/>
            <a:ext cx="2743200" cy="2468880"/>
          </a:xfrm>
          <a:prstGeom prst="roundRect">
            <a:avLst>
              <a:gd name="adj" fmla="val 6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624328"/>
            <a:ext cx="566928" cy="566928"/>
          </a:xfrm>
          <a:prstGeom prst="ellipse">
            <a:avLst/>
          </a:prstGeom>
          <a:solidFill>
            <a:srgbClr val="000000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636776" y="2578608"/>
            <a:ext cx="566928" cy="566928"/>
          </a:xfrm>
          <a:prstGeom prst="ellipse">
            <a:avLst/>
          </a:prstGeom>
          <a:solidFill>
            <a:srgbClr val="256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9184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72033"/>
                </a:solidFill>
                <a:latin typeface="Calibri"/>
              </a:rPr>
              <a:t>Browser (Client)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03320"/>
            <a:ext cx="2377440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B6B82"/>
                </a:solidFill>
                <a:latin typeface="Calibri"/>
              </a:rPr>
              <a:t>index.html, style.css, app.js — renders the UI and runs all frontend logic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64024" y="2295144"/>
            <a:ext cx="2743200" cy="2468880"/>
          </a:xfrm>
          <a:prstGeom prst="roundRect">
            <a:avLst>
              <a:gd name="adj" fmla="val 6000"/>
            </a:avLst>
          </a:prstGeom>
          <a:solidFill>
            <a:srgbClr val="000000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09160" y="2240280"/>
            <a:ext cx="2743200" cy="2468880"/>
          </a:xfrm>
          <a:prstGeom prst="roundRect">
            <a:avLst>
              <a:gd name="adj" fmla="val 6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829300" y="2624328"/>
            <a:ext cx="566928" cy="566928"/>
          </a:xfrm>
          <a:prstGeom prst="ellipse">
            <a:avLst/>
          </a:prstGeom>
          <a:solidFill>
            <a:srgbClr val="000000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797296" y="2578608"/>
            <a:ext cx="566928" cy="566928"/>
          </a:xfrm>
          <a:prstGeom prst="ellipse">
            <a:avLst/>
          </a:prstGeom>
          <a:solidFill>
            <a:srgbClr val="256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329184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72033"/>
                </a:solidFill>
                <a:latin typeface="Calibri"/>
              </a:rPr>
              <a:t>Flask Server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3703320"/>
            <a:ext cx="2377440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B6B82"/>
                </a:solidFill>
                <a:latin typeface="Calibri"/>
              </a:rPr>
              <a:t>app.py — serves static files and a REST API under /api/tasks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24544" y="2295144"/>
            <a:ext cx="2743200" cy="2468880"/>
          </a:xfrm>
          <a:prstGeom prst="roundRect">
            <a:avLst>
              <a:gd name="adj" fmla="val 6000"/>
            </a:avLst>
          </a:prstGeom>
          <a:solidFill>
            <a:srgbClr val="000000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869680" y="2240280"/>
            <a:ext cx="2743200" cy="2468880"/>
          </a:xfrm>
          <a:prstGeom prst="roundRect">
            <a:avLst>
              <a:gd name="adj" fmla="val 6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989819" y="2624328"/>
            <a:ext cx="566928" cy="566928"/>
          </a:xfrm>
          <a:prstGeom prst="ellipse">
            <a:avLst/>
          </a:prstGeom>
          <a:solidFill>
            <a:srgbClr val="000000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957815" y="2578608"/>
            <a:ext cx="566928" cy="566928"/>
          </a:xfrm>
          <a:prstGeom prst="ellipse">
            <a:avLst/>
          </a:prstGeom>
          <a:solidFill>
            <a:srgbClr val="256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329184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72033"/>
                </a:solidFill>
                <a:latin typeface="Calibri"/>
              </a:rPr>
              <a:t>SQLite Database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59" y="3703320"/>
            <a:ext cx="2377440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B6B82"/>
                </a:solidFill>
                <a:latin typeface="Calibri"/>
              </a:rPr>
              <a:t>tasks.db — single tasks table, accessed via raw SQL (sqlite3)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29000" y="3063240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256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 wrap="none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→ request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29000" y="3520440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17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 wrap="none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← response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89520" y="3063240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256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 wrap="none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→ query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89520" y="3520440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17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 wrap="none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← rows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03504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5B6B82"/>
                </a:solidFill>
                <a:latin typeface="Calibri"/>
              </a:rPr>
              <a:t>No ORM — Flask talks to SQLite directly through the sqlite3 module.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E9EEF4"/>
            </a:gs>
          </a:gsLst>
          <a:lin scaled="0" ang="186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286000" y="6035040"/>
            <a:ext cx="3108960" cy="3108960"/>
          </a:xfrm>
          <a:prstGeom prst="ellipse">
            <a:avLst/>
          </a:prstGeom>
          <a:solidFill>
            <a:srgbClr val="2563A6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47120" y="-1920240"/>
            <a:ext cx="2743200" cy="2743200"/>
          </a:xfrm>
          <a:prstGeom prst="ellipse">
            <a:avLst/>
          </a:prstGeom>
          <a:solidFill>
            <a:srgbClr val="2563A6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its_logo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384048"/>
            <a:ext cx="841248" cy="8412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172033"/>
                </a:solidFill>
                <a:latin typeface="Cambria"/>
              </a:rPr>
              <a:t>Setup on Another Laptop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B6B82"/>
                </a:solidFill>
                <a:latin typeface="Calibri"/>
              </a:rPr>
              <a:t>Cloning through VS Code — from a fresh laptop to a running app in 5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900684" y="2441448"/>
            <a:ext cx="27432" cy="3218688"/>
          </a:xfrm>
          <a:prstGeom prst="rect">
            <a:avLst/>
          </a:prstGeom>
          <a:solidFill>
            <a:srgbClr val="E9EEF4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2148839"/>
            <a:ext cx="11064240" cy="676656"/>
          </a:xfrm>
          <a:prstGeom prst="roundRect">
            <a:avLst>
              <a:gd name="adj" fmla="val 14000"/>
            </a:avLst>
          </a:prstGeom>
          <a:solidFill>
            <a:srgbClr val="000000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2103120"/>
            <a:ext cx="11064240" cy="676656"/>
          </a:xfrm>
          <a:prstGeom prst="roundRect">
            <a:avLst>
              <a:gd name="adj" fmla="val 14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17804" y="2258568"/>
            <a:ext cx="457200" cy="457200"/>
          </a:xfrm>
          <a:prstGeom prst="ellipse">
            <a:avLst/>
          </a:prstGeom>
          <a:solidFill>
            <a:srgbClr val="000000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85800" y="2212848"/>
            <a:ext cx="457200" cy="457200"/>
          </a:xfrm>
          <a:prstGeom prst="ellipse">
            <a:avLst/>
          </a:prstGeom>
          <a:solidFill>
            <a:srgbClr val="256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176272"/>
            <a:ext cx="99669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72033"/>
                </a:solidFill>
                <a:latin typeface="Calibri"/>
              </a:rPr>
              <a:t>Sign in to GitHub in VS 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68879"/>
            <a:ext cx="99669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1150" b="0">
                <a:solidFill>
                  <a:srgbClr val="5B6B82"/>
                </a:solidFill>
                <a:latin typeface="Calibri"/>
              </a:rPr>
              <a:t>Repo is private — </a:t>
            </a:r>
            <a:r>
              <a:rPr sz="1150" b="1">
                <a:solidFill>
                  <a:srgbClr val="5B6B82"/>
                </a:solidFill>
                <a:latin typeface="Courier New"/>
              </a:rPr>
              <a:t>Ctrl+Shift+P</a:t>
            </a:r>
            <a:r>
              <a:rPr sz="1150" b="0">
                <a:solidFill>
                  <a:srgbClr val="5B6B82"/>
                </a:solidFill>
                <a:latin typeface="Calibri"/>
              </a:rPr>
              <a:t> → </a:t>
            </a:r>
            <a:r>
              <a:rPr sz="1150" b="1">
                <a:solidFill>
                  <a:srgbClr val="5B6B82"/>
                </a:solidFill>
                <a:latin typeface="Courier New"/>
              </a:rPr>
              <a:t>GitHub: Sign 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953511"/>
            <a:ext cx="11064240" cy="676656"/>
          </a:xfrm>
          <a:prstGeom prst="roundRect">
            <a:avLst>
              <a:gd name="adj" fmla="val 14000"/>
            </a:avLst>
          </a:prstGeom>
          <a:solidFill>
            <a:srgbClr val="000000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2907791"/>
            <a:ext cx="11064240" cy="676656"/>
          </a:xfrm>
          <a:prstGeom prst="roundRect">
            <a:avLst>
              <a:gd name="adj" fmla="val 14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7804" y="3063239"/>
            <a:ext cx="457200" cy="457200"/>
          </a:xfrm>
          <a:prstGeom prst="ellipse">
            <a:avLst/>
          </a:prstGeom>
          <a:solidFill>
            <a:srgbClr val="000000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85800" y="3017520"/>
            <a:ext cx="457200" cy="457200"/>
          </a:xfrm>
          <a:prstGeom prst="ellipse">
            <a:avLst/>
          </a:prstGeom>
          <a:solidFill>
            <a:srgbClr val="256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980944"/>
            <a:ext cx="99669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72033"/>
                </a:solidFill>
                <a:latin typeface="Calibri"/>
              </a:rPr>
              <a:t>Clone the repository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273551"/>
            <a:ext cx="99669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1150" b="1">
                <a:solidFill>
                  <a:srgbClr val="5B6B82"/>
                </a:solidFill>
                <a:latin typeface="Courier New"/>
              </a:rPr>
              <a:t>Ctrl+Shift+P</a:t>
            </a:r>
            <a:r>
              <a:rPr sz="1150" b="0">
                <a:solidFill>
                  <a:srgbClr val="5B6B82"/>
                </a:solidFill>
                <a:latin typeface="Calibri"/>
              </a:rPr>
              <a:t> → </a:t>
            </a:r>
            <a:r>
              <a:rPr sz="1150" b="1">
                <a:solidFill>
                  <a:srgbClr val="5B6B82"/>
                </a:solidFill>
                <a:latin typeface="Courier New"/>
              </a:rPr>
              <a:t>Git: Clone</a:t>
            </a:r>
            <a:r>
              <a:rPr sz="1150" b="0">
                <a:solidFill>
                  <a:srgbClr val="5B6B82"/>
                </a:solidFill>
                <a:latin typeface="Calibri"/>
              </a:rPr>
              <a:t> → paste the repo URL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758183"/>
            <a:ext cx="11064240" cy="676656"/>
          </a:xfrm>
          <a:prstGeom prst="roundRect">
            <a:avLst>
              <a:gd name="adj" fmla="val 14000"/>
            </a:avLst>
          </a:prstGeom>
          <a:solidFill>
            <a:srgbClr val="000000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48640" y="3712463"/>
            <a:ext cx="11064240" cy="676656"/>
          </a:xfrm>
          <a:prstGeom prst="roundRect">
            <a:avLst>
              <a:gd name="adj" fmla="val 14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17804" y="3867911"/>
            <a:ext cx="457200" cy="457200"/>
          </a:xfrm>
          <a:prstGeom prst="ellipse">
            <a:avLst/>
          </a:prstGeom>
          <a:solidFill>
            <a:srgbClr val="000000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85800" y="3822191"/>
            <a:ext cx="457200" cy="457200"/>
          </a:xfrm>
          <a:prstGeom prst="ellipse">
            <a:avLst/>
          </a:prstGeom>
          <a:solidFill>
            <a:srgbClr val="256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785615"/>
            <a:ext cx="99669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72033"/>
                </a:solidFill>
                <a:latin typeface="Calibri"/>
              </a:rPr>
              <a:t>Install dependencies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078224"/>
            <a:ext cx="99669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1150" b="0">
                <a:solidFill>
                  <a:srgbClr val="5B6B82"/>
                </a:solidFill>
                <a:latin typeface="Calibri"/>
              </a:rPr>
              <a:t>Open the terminal and run </a:t>
            </a:r>
            <a:r>
              <a:rPr sz="1150" b="1">
                <a:solidFill>
                  <a:srgbClr val="5B6B82"/>
                </a:solidFill>
                <a:latin typeface="Courier New"/>
              </a:rPr>
              <a:t>pip install flask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4562855"/>
            <a:ext cx="11064240" cy="676656"/>
          </a:xfrm>
          <a:prstGeom prst="roundRect">
            <a:avLst>
              <a:gd name="adj" fmla="val 14000"/>
            </a:avLst>
          </a:prstGeom>
          <a:solidFill>
            <a:srgbClr val="000000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48640" y="4517136"/>
            <a:ext cx="11064240" cy="676656"/>
          </a:xfrm>
          <a:prstGeom prst="roundRect">
            <a:avLst>
              <a:gd name="adj" fmla="val 14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17804" y="4672583"/>
            <a:ext cx="457200" cy="457200"/>
          </a:xfrm>
          <a:prstGeom prst="ellipse">
            <a:avLst/>
          </a:prstGeom>
          <a:solidFill>
            <a:srgbClr val="000000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85800" y="4626864"/>
            <a:ext cx="457200" cy="457200"/>
          </a:xfrm>
          <a:prstGeom prst="ellipse">
            <a:avLst/>
          </a:prstGeom>
          <a:solidFill>
            <a:srgbClr val="256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4590288"/>
            <a:ext cx="99669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72033"/>
                </a:solidFill>
                <a:latin typeface="Calibri"/>
              </a:rPr>
              <a:t>Run the app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4882896"/>
            <a:ext cx="99669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1150" b="1">
                <a:solidFill>
                  <a:srgbClr val="5B6B82"/>
                </a:solidFill>
                <a:latin typeface="Courier New"/>
              </a:rPr>
              <a:t>python app.py</a:t>
            </a:r>
            <a:r>
              <a:rPr sz="1150" b="0">
                <a:solidFill>
                  <a:srgbClr val="5B6B82"/>
                </a:solidFill>
                <a:latin typeface="Calibri"/>
              </a:rPr>
              <a:t>  (or run </a:t>
            </a:r>
            <a:r>
              <a:rPr sz="1150" b="1">
                <a:solidFill>
                  <a:srgbClr val="5B6B82"/>
                </a:solidFill>
                <a:latin typeface="Courier New"/>
              </a:rPr>
              <a:t>run.bat</a:t>
            </a:r>
            <a:r>
              <a:rPr sz="1150" b="0">
                <a:solidFill>
                  <a:srgbClr val="5B6B82"/>
                </a:solidFill>
                <a:latin typeface="Calibri"/>
              </a:rPr>
              <a:t>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5367527"/>
            <a:ext cx="11064240" cy="676656"/>
          </a:xfrm>
          <a:prstGeom prst="roundRect">
            <a:avLst>
              <a:gd name="adj" fmla="val 14000"/>
            </a:avLst>
          </a:prstGeom>
          <a:solidFill>
            <a:srgbClr val="000000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48640" y="5321807"/>
            <a:ext cx="11064240" cy="676656"/>
          </a:xfrm>
          <a:prstGeom prst="roundRect">
            <a:avLst>
              <a:gd name="adj" fmla="val 14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17804" y="5477255"/>
            <a:ext cx="457200" cy="457200"/>
          </a:xfrm>
          <a:prstGeom prst="ellipse">
            <a:avLst/>
          </a:prstGeom>
          <a:solidFill>
            <a:srgbClr val="000000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85800" y="5431536"/>
            <a:ext cx="457200" cy="457200"/>
          </a:xfrm>
          <a:prstGeom prst="ellipse">
            <a:avLst/>
          </a:prstGeom>
          <a:solidFill>
            <a:srgbClr val="256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5394959"/>
            <a:ext cx="99669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72033"/>
                </a:solidFill>
                <a:latin typeface="Calibri"/>
              </a:rPr>
              <a:t>Open it in your browser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5687568"/>
            <a:ext cx="99669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1150" b="0">
                <a:solidFill>
                  <a:srgbClr val="5B6B82"/>
                </a:solidFill>
                <a:latin typeface="Calibri"/>
              </a:rPr>
              <a:t>Go to </a:t>
            </a:r>
            <a:r>
              <a:rPr sz="1150" b="1">
                <a:solidFill>
                  <a:srgbClr val="5B6B82"/>
                </a:solidFill>
                <a:latin typeface="Courier New"/>
              </a:rPr>
              <a:t>http://127.0.0.1:5000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217920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5B6B82"/>
                </a:solidFill>
                <a:latin typeface="Calibri"/>
              </a:rPr>
              <a:t>Full walkthrough, plus fallbacks if a menu option is missing, is in README.md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